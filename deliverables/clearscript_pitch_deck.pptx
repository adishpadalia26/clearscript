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7aafde6d0a41ed" /><Relationship Type="http://schemas.openxmlformats.org/officeDocument/2006/relationships/extended-properties" Target="/docProps/app.xml" Id="Rcd200018c2f548c7" /><Relationship Type="http://schemas.openxmlformats.org/officeDocument/2006/relationships/officeDocument" Target="/ppt/presentation.xml" Id="R87ed88789aab4562" /></Relationships>
</file>

<file path=ppt/presentation.xml><?xml version="1.0" encoding="utf-8"?>
<p:presentation xmlns:p="http://schemas.openxmlformats.org/presentationml/2006/main">
  <p:sldMasterIdLst>
    <p:sldMasterId xmlns:r="http://schemas.openxmlformats.org/officeDocument/2006/relationships" id="2147483648" r:id="Racafc79c7afe4d06"/>
  </p:sldMasterIdLst>
  <p:notesMasterIdLst>
    <p:notesMasterId xmlns:r="http://schemas.openxmlformats.org/officeDocument/2006/relationships" r:id="R59a0093c0c7e43de"/>
  </p:notesMasterIdLst>
  <p:sldIdLst>
    <p:sldId xmlns:r="http://schemas.openxmlformats.org/officeDocument/2006/relationships" id="256" r:id="R1d316ae203544813"/>
    <p:sldId xmlns:r="http://schemas.openxmlformats.org/officeDocument/2006/relationships" id="257" r:id="Ra6241ff697b54176"/>
    <p:sldId xmlns:r="http://schemas.openxmlformats.org/officeDocument/2006/relationships" id="258" r:id="Ra6f0828e068147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2c92e2bc8b42ea" /><Relationship Type="http://schemas.openxmlformats.org/officeDocument/2006/relationships/slideMaster" Target="/ppt/slideMasters/slideMaster1.xml" Id="Racafc79c7afe4d06" /><Relationship Type="http://schemas.openxmlformats.org/officeDocument/2006/relationships/notesMaster" Target="/ppt/notesMasters/notesMaster1.xml" Id="R59a0093c0c7e43de" /><Relationship Type="http://schemas.openxmlformats.org/officeDocument/2006/relationships/presProps" Target="/ppt/presProps.xml" Id="R4bee03d03d58491f" /><Relationship Type="http://schemas.openxmlformats.org/officeDocument/2006/relationships/tableStyles" Target="/ppt/tableStyles.xml" Id="Rfb140320946844b0" /><Relationship Type="http://schemas.openxmlformats.org/officeDocument/2006/relationships/slide" Target="/ppt/slides/slide1.xml" Id="R1d316ae203544813" /><Relationship Type="http://schemas.openxmlformats.org/officeDocument/2006/relationships/slide" Target="/ppt/slides/slide2.xml" Id="Ra6241ff697b54176" /><Relationship Type="http://schemas.openxmlformats.org/officeDocument/2006/relationships/slide" Target="/ppt/slides/slide3.xml" Id="Ra6f0828e068147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f86db7de0741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2da5f2bc764d2b" /><Relationship Type="http://schemas.openxmlformats.org/officeDocument/2006/relationships/notesMaster" Target="/ppt/notesMasters/notesMaster1.xml" Id="R7c7fa5dac55545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66ba015ed5459d" /><Relationship Type="http://schemas.openxmlformats.org/officeDocument/2006/relationships/notesMaster" Target="/ppt/notesMasters/notesMaster1.xml" Id="Rcea45c60c0a84e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3024cc7e86433f" /><Relationship Type="http://schemas.openxmlformats.org/officeDocument/2006/relationships/notesMaster" Target="/ppt/notesMasters/notesMaster1.xml" Id="Rbb39e259f44042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653380cfe242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3d4b73dce44a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438c700c0d4e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54ea85002c41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e4b0a8be2646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3e205297964f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C6D04E-D62D-4083-85AA-8ED781EAAA8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96BB4C-0D19-4326-A17E-AEE163E4803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6744FB0-633B-432F-A224-BAEC33FCCBD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33D0FB-1B29-4EEA-BED9-6FE906837C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139D55-E0FD-4BCF-8D33-A11370F080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132570-F86D-4E6A-A63C-C6BF3AB340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A7420A-9825-42C8-B677-4D78AAE351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A6A612E-B830-470F-8DAB-0B29C6C647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CD6A2A-6AD0-4585-B0FA-8DF56B5F75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158511-756D-4FE6-9D42-C4BBE5BD26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56a9bae67c4b09" /><Relationship Type="http://schemas.openxmlformats.org/officeDocument/2006/relationships/slideLayout" Target="/ppt/slideLayouts/slideLayout1.xml" Id="R7c0ab040085c4759" /><Relationship Type="http://schemas.openxmlformats.org/officeDocument/2006/relationships/slideLayout" Target="/ppt/slideLayouts/slideLayout2.xml" Id="R109a7e8b1c6c49ff" /><Relationship Type="http://schemas.openxmlformats.org/officeDocument/2006/relationships/slideLayout" Target="/ppt/slideLayouts/slideLayout3.xml" Id="R34fdad249f394e58" /><Relationship Type="http://schemas.openxmlformats.org/officeDocument/2006/relationships/slideLayout" Target="/ppt/slideLayouts/slideLayout4.xml" Id="R9f221ed000314e27" /><Relationship Type="http://schemas.openxmlformats.org/officeDocument/2006/relationships/slideLayout" Target="/ppt/slideLayouts/slideLayout5.xml" Id="R5e556b6c12424e86" /><Relationship Type="http://schemas.openxmlformats.org/officeDocument/2006/relationships/slideLayout" Target="/ppt/slideLayouts/slideLayout6.xml" Id="Rd04e7fcf37e941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0ab040085c4759"/>
    <p:sldLayoutId xmlns:r="http://schemas.openxmlformats.org/officeDocument/2006/relationships" id="2147483650" r:id="R109a7e8b1c6c49ff"/>
    <p:sldLayoutId xmlns:r="http://schemas.openxmlformats.org/officeDocument/2006/relationships" id="2147483651" r:id="R34fdad249f394e58"/>
    <p:sldLayoutId xmlns:r="http://schemas.openxmlformats.org/officeDocument/2006/relationships" id="2147483652" r:id="R9f221ed000314e27"/>
    <p:sldLayoutId xmlns:r="http://schemas.openxmlformats.org/officeDocument/2006/relationships" id="2147483653" r:id="R5e556b6c12424e86"/>
    <p:sldLayoutId xmlns:r="http://schemas.openxmlformats.org/officeDocument/2006/relationships" id="2147483654" r:id="Rd04e7fcf37e941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db76a756674b93" /><Relationship Type="http://schemas.openxmlformats.org/officeDocument/2006/relationships/notesSlide" Target="/ppt/notesSlides/notesSlide1.xml" Id="R0ae741dbb9f444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4f7798cd824bc4" /><Relationship Type="http://schemas.openxmlformats.org/officeDocument/2006/relationships/image" Target="/ppt/media/image.jpeg" Id="R7f8776d938184e62" /><Relationship Type="http://schemas.openxmlformats.org/officeDocument/2006/relationships/notesSlide" Target="/ppt/notesSlides/notesSlide2.xml" Id="R008a3c136b8341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d0c83ee7afd4e85" /><Relationship Type="http://schemas.openxmlformats.org/officeDocument/2006/relationships/notesSlide" Target="/ppt/notesSlides/notesSlide3.xml" Id="R43e83a3fc8794e57" /></Relationships>
</file>

<file path=ppt/slides/slide1.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A2B86D-BD00-401F-97F9-FD8DC7352404}"/>
              </a:ext>
            </a:extLst>
          </p:cNvPr>
          <p:cNvSpPr>
            <a:spLocks xmlns:a="http://schemas.openxmlformats.org/drawingml/2006/main" noGrp="1"/>
          </p:cNvSpPr>
          <p:nvPr/>
        </p:nvSpPr>
        <p:spPr>
          <a:xfrm xmlns:a="http://schemas.openxmlformats.org/drawingml/2006/main">
            <a:off x="685800" y="40005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600" b="1">
                <a:solidFill>
                  <a:srgbClr val="102A43"/>
                </a:solidFill>
              </a:defRPr>
            </a:defPPr>
          </a:lstStyle>
          <a:p xmlns:a="http://schemas.openxmlformats.org/drawingml/2006/main">
            <a:pPr algn="l">
              <a:defRPr sz="3600" b="1">
                <a:solidFill>
                  <a:srgbClr val="102A43"/>
                </a:solidFill>
              </a:defRPr>
            </a:pPr>
            <a:r>
              <a:rPr sz="3600" b="1">
                <a:solidFill>
                  <a:srgbClr val="102A43"/>
                </a:solidFill>
              </a:rPr>
              <a:t>ClearScript</a:t>
            </a:r>
          </a:p>
        </p:txBody>
      </p:sp>
      <p:sp>
        <p:nvSpPr>
          <p:cNvPr id="2" name="">
            <a:extLst xmlns:a="http://schemas.openxmlformats.org/drawingml/2006/main">
              <a:ext uri="{FF2B5EF4-FFF2-40B4-BE49-F238E27FC236}">
                <a16:creationId xmlns:a16="http://schemas.microsoft.com/office/drawing/2014/main" id="{A4539C09-826A-4D08-9E62-B1B1A5854197}"/>
              </a:ext>
            </a:extLst>
          </p:cNvPr>
          <p:cNvSpPr>
            <a:spLocks xmlns:a="http://schemas.openxmlformats.org/drawingml/2006/main" noGrp="1"/>
          </p:cNvSpPr>
          <p:nvPr/>
        </p:nvSpPr>
        <p:spPr>
          <a:xfrm xmlns:a="http://schemas.openxmlformats.org/drawingml/2006/main">
            <a:off x="714375" y="9525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87D"/>
                </a:solidFill>
              </a:defRPr>
            </a:defPPr>
          </a:lstStyle>
          <a:p xmlns:a="http://schemas.openxmlformats.org/drawingml/2006/main">
            <a:pPr algn="l">
              <a:defRPr sz="1725" b="0">
                <a:solidFill>
                  <a:srgbClr val="52687D"/>
                </a:solidFill>
              </a:defRPr>
            </a:pPr>
            <a:r>
              <a:rPr sz="1725" b="0">
                <a:solidFill>
                  <a:srgbClr val="52687D"/>
                </a:solidFill>
              </a:rPr>
              <a:t>Fax to Fill prescription intake</a:t>
            </a:r>
          </a:p>
        </p:txBody>
      </p:sp>
      <p:sp>
        <p:nvSpPr>
          <p:cNvPr id="3" name="">
            <a:extLst xmlns:a="http://schemas.openxmlformats.org/drawingml/2006/main">
              <a:ext uri="{FF2B5EF4-FFF2-40B4-BE49-F238E27FC236}">
                <a16:creationId xmlns:a16="http://schemas.microsoft.com/office/drawing/2014/main" id="{0D53D5A4-6CFB-4DB7-AC8F-59D3A5EE8447}"/>
              </a:ext>
            </a:extLst>
          </p:cNvPr>
          <p:cNvSpPr>
            <a:spLocks xmlns:a="http://schemas.openxmlformats.org/drawingml/2006/main" noGrp="1"/>
          </p:cNvSpPr>
          <p:nvPr/>
        </p:nvSpPr>
        <p:spPr>
          <a:xfrm xmlns:a="http://schemas.openxmlformats.org/drawingml/2006/main">
            <a:off x="723900" y="1876425"/>
            <a:ext cx="685800" cy="285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7E36CD28-A44F-4EE5-9557-8AB87F347609}"/>
              </a:ext>
            </a:extLst>
          </p:cNvPr>
          <p:cNvSpPr>
            <a:spLocks xmlns:a="http://schemas.openxmlformats.org/drawingml/2006/main" noGrp="1"/>
          </p:cNvSpPr>
          <p:nvPr/>
        </p:nvSpPr>
        <p:spPr>
          <a:xfrm xmlns:a="http://schemas.openxmlformats.org/drawingml/2006/main">
            <a:off x="723900" y="15811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02A43"/>
                </a:solidFill>
              </a:defRPr>
            </a:defPPr>
          </a:lstStyle>
          <a:p xmlns:a="http://schemas.openxmlformats.org/drawingml/2006/main">
            <a:pPr algn="l">
              <a:defRPr sz="1800" b="1">
                <a:solidFill>
                  <a:srgbClr val="102A43"/>
                </a:solidFill>
              </a:defRPr>
            </a:pPr>
            <a:r>
              <a:rPr sz="1800" b="1">
                <a:solidFill>
                  <a:srgbClr val="102A43"/>
                </a:solidFill>
              </a:rPr>
              <a:t>Why it is useful</a:t>
            </a:r>
          </a:p>
        </p:txBody>
      </p:sp>
      <p:sp>
        <p:nvSpPr>
          <p:cNvPr id="5" name="">
            <a:extLst xmlns:a="http://schemas.openxmlformats.org/drawingml/2006/main">
              <a:ext uri="{FF2B5EF4-FFF2-40B4-BE49-F238E27FC236}">
                <a16:creationId xmlns:a16="http://schemas.microsoft.com/office/drawing/2014/main" id="{9360D098-5013-44D2-B6B9-8378EDE5086E}"/>
              </a:ext>
            </a:extLst>
          </p:cNvPr>
          <p:cNvSpPr>
            <a:spLocks xmlns:a="http://schemas.openxmlformats.org/drawingml/2006/main" noGrp="1"/>
          </p:cNvSpPr>
          <p:nvPr/>
        </p:nvSpPr>
        <p:spPr>
          <a:xfrm xmlns:a="http://schemas.openxmlformats.org/drawingml/2006/main">
            <a:off x="723900" y="2181225"/>
            <a:ext cx="247650" cy="285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1C30704C-D613-4904-AD58-CCFA075169C4}"/>
              </a:ext>
            </a:extLst>
          </p:cNvPr>
          <p:cNvSpPr>
            <a:spLocks xmlns:a="http://schemas.openxmlformats.org/drawingml/2006/main" noGrp="1"/>
          </p:cNvSpPr>
          <p:nvPr/>
        </p:nvSpPr>
        <p:spPr>
          <a:xfrm xmlns:a="http://schemas.openxmlformats.org/drawingml/2006/main">
            <a:off x="1085850" y="210502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a:solidFill>
                  <a:srgbClr val="102A43"/>
                </a:solidFill>
              </a:defRPr>
            </a:defPPr>
          </a:lstStyle>
          <a:p xmlns:a="http://schemas.openxmlformats.org/drawingml/2006/main">
            <a:pPr algn="l">
              <a:defRPr sz="1500" b="1">
                <a:solidFill>
                  <a:srgbClr val="102A43"/>
                </a:solidFill>
              </a:defRPr>
            </a:pPr>
            <a:r>
              <a:rPr sz="1500" b="1">
                <a:solidFill>
                  <a:srgbClr val="102A43"/>
                </a:solidFill>
              </a:rPr>
              <a:t>Stops silent OCR errors</a:t>
            </a:r>
          </a:p>
        </p:txBody>
      </p:sp>
      <p:sp>
        <p:nvSpPr>
          <p:cNvPr id="7" name="">
            <a:extLst xmlns:a="http://schemas.openxmlformats.org/drawingml/2006/main">
              <a:ext uri="{FF2B5EF4-FFF2-40B4-BE49-F238E27FC236}">
                <a16:creationId xmlns:a16="http://schemas.microsoft.com/office/drawing/2014/main" id="{8A2EA19D-8F6A-4563-B792-3A3CE1847A28}"/>
              </a:ext>
            </a:extLst>
          </p:cNvPr>
          <p:cNvSpPr>
            <a:spLocks xmlns:a="http://schemas.openxmlformats.org/drawingml/2006/main" noGrp="1"/>
          </p:cNvSpPr>
          <p:nvPr/>
        </p:nvSpPr>
        <p:spPr>
          <a:xfrm xmlns:a="http://schemas.openxmlformats.org/drawingml/2006/main">
            <a:off x="1085850" y="2390775"/>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87D"/>
                </a:solidFill>
              </a:defRPr>
            </a:defPPr>
          </a:lstStyle>
          <a:p xmlns:a="http://schemas.openxmlformats.org/drawingml/2006/main">
            <a:pPr algn="l">
              <a:defRPr sz="1125" b="0">
                <a:solidFill>
                  <a:srgbClr val="52687D"/>
                </a:solidFill>
              </a:defRPr>
            </a:pPr>
            <a:r>
              <a:rPr sz="1125" b="0">
                <a:solidFill>
                  <a:srgbClr val="52687D"/>
                </a:solidFill>
              </a:rPr>
              <a:t>Every extracted field must pass rule, registry, or pharmacist review before approval.</a:t>
            </a:r>
          </a:p>
        </p:txBody>
      </p:sp>
      <p:sp>
        <p:nvSpPr>
          <p:cNvPr id="8" name="">
            <a:extLst xmlns:a="http://schemas.openxmlformats.org/drawingml/2006/main">
              <a:ext uri="{FF2B5EF4-FFF2-40B4-BE49-F238E27FC236}">
                <a16:creationId xmlns:a16="http://schemas.microsoft.com/office/drawing/2014/main" id="{E1762106-48B0-4987-BB2B-91F530B61425}"/>
              </a:ext>
            </a:extLst>
          </p:cNvPr>
          <p:cNvSpPr>
            <a:spLocks xmlns:a="http://schemas.openxmlformats.org/drawingml/2006/main" noGrp="1"/>
          </p:cNvSpPr>
          <p:nvPr/>
        </p:nvSpPr>
        <p:spPr>
          <a:xfrm xmlns:a="http://schemas.openxmlformats.org/drawingml/2006/main">
            <a:off x="723900" y="3038475"/>
            <a:ext cx="247650" cy="28575"/>
          </a:xfrm>
          <a:prstGeom xmlns:a="http://schemas.openxmlformats.org/drawingml/2006/main" prst="rect">
            <a:avLst/>
          </a:prstGeom>
          <a:solidFill xmlns:a="http://schemas.openxmlformats.org/drawingml/2006/main">
            <a:srgbClr val="059669"/>
          </a:solidFill>
          <a:ln xmlns:a="http://schemas.openxmlformats.org/drawingml/2006/main" w="0">
            <a:solidFill>
              <a:srgbClr val="059669"/>
            </a:solidFill>
            <a:prstDash val="solid"/>
          </a:ln>
        </p:spPr>
      </p:sp>
      <p:sp>
        <p:nvSpPr>
          <p:cNvPr id="9" name="">
            <a:extLst xmlns:a="http://schemas.openxmlformats.org/drawingml/2006/main">
              <a:ext uri="{FF2B5EF4-FFF2-40B4-BE49-F238E27FC236}">
                <a16:creationId xmlns:a16="http://schemas.microsoft.com/office/drawing/2014/main" id="{310E7C85-BA5B-4480-A5CA-AAA6364E0385}"/>
              </a:ext>
            </a:extLst>
          </p:cNvPr>
          <p:cNvSpPr>
            <a:spLocks xmlns:a="http://schemas.openxmlformats.org/drawingml/2006/main" noGrp="1"/>
          </p:cNvSpPr>
          <p:nvPr/>
        </p:nvSpPr>
        <p:spPr>
          <a:xfrm xmlns:a="http://schemas.openxmlformats.org/drawingml/2006/main">
            <a:off x="1085850" y="2962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a:solidFill>
                  <a:srgbClr val="102A43"/>
                </a:solidFill>
              </a:defRPr>
            </a:defPPr>
          </a:lstStyle>
          <a:p xmlns:a="http://schemas.openxmlformats.org/drawingml/2006/main">
            <a:pPr algn="l">
              <a:defRPr sz="1500" b="1">
                <a:solidFill>
                  <a:srgbClr val="102A43"/>
                </a:solidFill>
              </a:defRPr>
            </a:pPr>
            <a:r>
              <a:rPr sz="1500" b="1">
                <a:solidFill>
                  <a:srgbClr val="102A43"/>
                </a:solidFill>
              </a:rPr>
              <a:t>Closes missing data loops</a:t>
            </a:r>
          </a:p>
        </p:txBody>
      </p:sp>
      <p:sp>
        <p:nvSpPr>
          <p:cNvPr id="10" name="">
            <a:extLst xmlns:a="http://schemas.openxmlformats.org/drawingml/2006/main">
              <a:ext uri="{FF2B5EF4-FFF2-40B4-BE49-F238E27FC236}">
                <a16:creationId xmlns:a16="http://schemas.microsoft.com/office/drawing/2014/main" id="{B931BC60-5A2B-47C2-A60E-213BAB071ECB}"/>
              </a:ext>
            </a:extLst>
          </p:cNvPr>
          <p:cNvSpPr>
            <a:spLocks xmlns:a="http://schemas.openxmlformats.org/drawingml/2006/main" noGrp="1"/>
          </p:cNvSpPr>
          <p:nvPr/>
        </p:nvSpPr>
        <p:spPr>
          <a:xfrm xmlns:a="http://schemas.openxmlformats.org/drawingml/2006/main">
            <a:off x="1085850" y="3248025"/>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87D"/>
                </a:solidFill>
              </a:defRPr>
            </a:defPPr>
          </a:lstStyle>
          <a:p xmlns:a="http://schemas.openxmlformats.org/drawingml/2006/main">
            <a:pPr algn="l">
              <a:defRPr sz="1125" b="0">
                <a:solidFill>
                  <a:srgbClr val="52687D"/>
                </a:solidFill>
              </a:defRPr>
            </a:pPr>
            <a:r>
              <a:rPr sz="1125" b="0">
                <a:solidFill>
                  <a:srgbClr val="52687D"/>
                </a:solidFill>
              </a:rPr>
              <a:t>Unclear or absent fields can trigger a scoped prescriber call instead of manual back-and-forth.</a:t>
            </a:r>
          </a:p>
        </p:txBody>
      </p:sp>
      <p:sp>
        <p:nvSpPr>
          <p:cNvPr id="11" name="">
            <a:extLst xmlns:a="http://schemas.openxmlformats.org/drawingml/2006/main">
              <a:ext uri="{FF2B5EF4-FFF2-40B4-BE49-F238E27FC236}">
                <a16:creationId xmlns:a16="http://schemas.microsoft.com/office/drawing/2014/main" id="{E9A55EC2-943E-4C1A-9C9F-428AD628183D}"/>
              </a:ext>
            </a:extLst>
          </p:cNvPr>
          <p:cNvSpPr>
            <a:spLocks xmlns:a="http://schemas.openxmlformats.org/drawingml/2006/main" noGrp="1"/>
          </p:cNvSpPr>
          <p:nvPr/>
        </p:nvSpPr>
        <p:spPr>
          <a:xfrm xmlns:a="http://schemas.openxmlformats.org/drawingml/2006/main">
            <a:off x="723900" y="3895725"/>
            <a:ext cx="247650" cy="28575"/>
          </a:xfrm>
          <a:prstGeom xmlns:a="http://schemas.openxmlformats.org/drawingml/2006/main" prst="rect">
            <a:avLst/>
          </a:prstGeom>
          <a:solidFill xmlns:a="http://schemas.openxmlformats.org/drawingml/2006/main">
            <a:srgbClr val="F97316"/>
          </a:solidFill>
          <a:ln xmlns:a="http://schemas.openxmlformats.org/drawingml/2006/main" w="0">
            <a:solidFill>
              <a:srgbClr val="F97316"/>
            </a:solidFill>
            <a:prstDash val="solid"/>
          </a:ln>
        </p:spPr>
      </p:sp>
      <p:sp>
        <p:nvSpPr>
          <p:cNvPr id="12" name="">
            <a:extLst xmlns:a="http://schemas.openxmlformats.org/drawingml/2006/main">
              <a:ext uri="{FF2B5EF4-FFF2-40B4-BE49-F238E27FC236}">
                <a16:creationId xmlns:a16="http://schemas.microsoft.com/office/drawing/2014/main" id="{6FFF03E1-4AFC-4EA2-B22C-6A9F3D75A260}"/>
              </a:ext>
            </a:extLst>
          </p:cNvPr>
          <p:cNvSpPr>
            <a:spLocks xmlns:a="http://schemas.openxmlformats.org/drawingml/2006/main" noGrp="1"/>
          </p:cNvSpPr>
          <p:nvPr/>
        </p:nvSpPr>
        <p:spPr>
          <a:xfrm xmlns:a="http://schemas.openxmlformats.org/drawingml/2006/main">
            <a:off x="1085850" y="381952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a:solidFill>
                  <a:srgbClr val="102A43"/>
                </a:solidFill>
              </a:defRPr>
            </a:defPPr>
          </a:lstStyle>
          <a:p xmlns:a="http://schemas.openxmlformats.org/drawingml/2006/main">
            <a:pPr algn="l">
              <a:defRPr sz="1500" b="1">
                <a:solidFill>
                  <a:srgbClr val="102A43"/>
                </a:solidFill>
              </a:defRPr>
            </a:pPr>
            <a:r>
              <a:rPr sz="1500" b="1">
                <a:solidFill>
                  <a:srgbClr val="102A43"/>
                </a:solidFill>
              </a:rPr>
              <a:t>Keeps evidence visible</a:t>
            </a:r>
          </a:p>
        </p:txBody>
      </p:sp>
      <p:sp>
        <p:nvSpPr>
          <p:cNvPr id="13" name="">
            <a:extLst xmlns:a="http://schemas.openxmlformats.org/drawingml/2006/main">
              <a:ext uri="{FF2B5EF4-FFF2-40B4-BE49-F238E27FC236}">
                <a16:creationId xmlns:a16="http://schemas.microsoft.com/office/drawing/2014/main" id="{B201B7EF-5BB0-4E06-ADED-78AE547D102C}"/>
              </a:ext>
            </a:extLst>
          </p:cNvPr>
          <p:cNvSpPr>
            <a:spLocks xmlns:a="http://schemas.openxmlformats.org/drawingml/2006/main" noGrp="1"/>
          </p:cNvSpPr>
          <p:nvPr/>
        </p:nvSpPr>
        <p:spPr>
          <a:xfrm xmlns:a="http://schemas.openxmlformats.org/drawingml/2006/main">
            <a:off x="1085850" y="4105275"/>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87D"/>
                </a:solidFill>
              </a:defRPr>
            </a:defPPr>
          </a:lstStyle>
          <a:p xmlns:a="http://schemas.openxmlformats.org/drawingml/2006/main">
            <a:pPr algn="l">
              <a:defRPr sz="1125" b="0">
                <a:solidFill>
                  <a:srgbClr val="52687D"/>
                </a:solidFill>
              </a:defRPr>
            </a:pPr>
            <a:r>
              <a:rPr sz="1125" b="0">
                <a:solidFill>
                  <a:srgbClr val="52687D"/>
                </a:solidFill>
              </a:rPr>
              <a:t>The console shows field status, reasons, call outcomes, and export-ready payloads.</a:t>
            </a:r>
          </a:p>
        </p:txBody>
      </p:sp>
      <p:sp>
        <p:nvSpPr>
          <p:cNvPr id="14" name="">
            <a:extLst xmlns:a="http://schemas.openxmlformats.org/drawingml/2006/main">
              <a:ext uri="{FF2B5EF4-FFF2-40B4-BE49-F238E27FC236}">
                <a16:creationId xmlns:a16="http://schemas.microsoft.com/office/drawing/2014/main" id="{12C1886E-0760-4FEC-8E2A-0BE05F46EE00}"/>
              </a:ext>
            </a:extLst>
          </p:cNvPr>
          <p:cNvSpPr>
            <a:spLocks xmlns:a="http://schemas.openxmlformats.org/drawingml/2006/main" noGrp="1"/>
          </p:cNvSpPr>
          <p:nvPr/>
        </p:nvSpPr>
        <p:spPr>
          <a:xfrm xmlns:a="http://schemas.openxmlformats.org/drawingml/2006/main">
            <a:off x="6305550" y="1876425"/>
            <a:ext cx="685800" cy="28575"/>
          </a:xfrm>
          <a:prstGeom xmlns:a="http://schemas.openxmlformats.org/drawingml/2006/main" prst="rect">
            <a:avLst/>
          </a:prstGeom>
          <a:solidFill xmlns:a="http://schemas.openxmlformats.org/drawingml/2006/main">
            <a:srgbClr val="059669"/>
          </a:solidFill>
          <a:ln xmlns:a="http://schemas.openxmlformats.org/drawingml/2006/main" w="0">
            <a:solidFill>
              <a:srgbClr val="059669"/>
            </a:solidFill>
            <a:prstDash val="solid"/>
          </a:ln>
        </p:spPr>
      </p:sp>
      <p:sp>
        <p:nvSpPr>
          <p:cNvPr id="15" name="">
            <a:extLst xmlns:a="http://schemas.openxmlformats.org/drawingml/2006/main">
              <a:ext uri="{FF2B5EF4-FFF2-40B4-BE49-F238E27FC236}">
                <a16:creationId xmlns:a16="http://schemas.microsoft.com/office/drawing/2014/main" id="{117B7109-5BA9-493F-B891-6EC4C92C973F}"/>
              </a:ext>
            </a:extLst>
          </p:cNvPr>
          <p:cNvSpPr>
            <a:spLocks xmlns:a="http://schemas.openxmlformats.org/drawingml/2006/main" noGrp="1"/>
          </p:cNvSpPr>
          <p:nvPr/>
        </p:nvSpPr>
        <p:spPr>
          <a:xfrm xmlns:a="http://schemas.openxmlformats.org/drawingml/2006/main">
            <a:off x="6305550" y="15811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02A43"/>
                </a:solidFill>
              </a:defRPr>
            </a:defPPr>
          </a:lstStyle>
          <a:p xmlns:a="http://schemas.openxmlformats.org/drawingml/2006/main">
            <a:pPr algn="l">
              <a:defRPr sz="1800" b="1">
                <a:solidFill>
                  <a:srgbClr val="102A43"/>
                </a:solidFill>
              </a:defRPr>
            </a:pPr>
            <a:r>
              <a:rPr sz="1800" b="1">
                <a:solidFill>
                  <a:srgbClr val="102A43"/>
                </a:solidFill>
              </a:rPr>
              <a:t>Product snapshot</a:t>
            </a:r>
          </a:p>
        </p:txBody>
      </p:sp>
      <p:sp>
        <p:nvSpPr>
          <p:cNvPr id="16" name="">
            <a:extLst xmlns:a="http://schemas.openxmlformats.org/drawingml/2006/main">
              <a:ext uri="{FF2B5EF4-FFF2-40B4-BE49-F238E27FC236}">
                <a16:creationId xmlns:a16="http://schemas.microsoft.com/office/drawing/2014/main" id="{E208939C-57ED-420A-9730-FF01FC123FF0}"/>
              </a:ext>
            </a:extLst>
          </p:cNvPr>
          <p:cNvSpPr>
            <a:spLocks xmlns:a="http://schemas.openxmlformats.org/drawingml/2006/main" noGrp="1"/>
          </p:cNvSpPr>
          <p:nvPr/>
        </p:nvSpPr>
        <p:spPr>
          <a:xfrm xmlns:a="http://schemas.openxmlformats.org/drawingml/2006/main">
            <a:off x="6305550" y="2114550"/>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102A43"/>
                </a:solidFill>
              </a:defRPr>
            </a:defPPr>
          </a:lstStyle>
          <a:p xmlns:a="http://schemas.openxmlformats.org/drawingml/2006/main">
            <a:pPr algn="l">
              <a:defRPr sz="1500" b="0">
                <a:solidFill>
                  <a:srgbClr val="102A43"/>
                </a:solidFill>
              </a:defRPr>
            </a:pPr>
            <a:r>
              <a:rPr sz="1500" b="0">
                <a:solidFill>
                  <a:srgbClr val="102A43"/>
                </a:solidFill>
              </a:rPr>
              <a:t>ClearScript converts prescription images into verified orders for pharmacist review. The backend extracts structured fields, verifies them against deterministic checks, and blocks unsafe approvals until the review path resolves the issue.</a:t>
            </a:r>
          </a:p>
        </p:txBody>
      </p:sp>
      <p:sp>
        <p:nvSpPr>
          <p:cNvPr id="17" name="">
            <a:extLst xmlns:a="http://schemas.openxmlformats.org/drawingml/2006/main">
              <a:ext uri="{FF2B5EF4-FFF2-40B4-BE49-F238E27FC236}">
                <a16:creationId xmlns:a16="http://schemas.microsoft.com/office/drawing/2014/main" id="{48292EF6-3F42-4D75-ADF3-6CDE07056DA4}"/>
              </a:ext>
            </a:extLst>
          </p:cNvPr>
          <p:cNvSpPr>
            <a:spLocks xmlns:a="http://schemas.openxmlformats.org/drawingml/2006/main" noGrp="1"/>
          </p:cNvSpPr>
          <p:nvPr/>
        </p:nvSpPr>
        <p:spPr>
          <a:xfrm xmlns:a="http://schemas.openxmlformats.org/drawingml/2006/main">
            <a:off x="6305550" y="3429000"/>
            <a:ext cx="4953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52687D"/>
                </a:solidFill>
              </a:defRPr>
            </a:defPPr>
          </a:lstStyle>
          <a:p xmlns:a="http://schemas.openxmlformats.org/drawingml/2006/main">
            <a:pPr algn="l">
              <a:defRPr sz="1350" b="0">
                <a:solidFill>
                  <a:srgbClr val="52687D"/>
                </a:solidFill>
              </a:defRPr>
            </a:pPr>
            <a:r>
              <a:rPr sz="1350" b="0">
                <a:solidFill>
                  <a:srgbClr val="52687D"/>
                </a:solidFill>
              </a:rPr>
              <a:t>Built for the PillSpark Fax to Fill workflow: image upload, OCR extraction, triage, prescriber clarification, FHIR output, CSV export, and traceable agent behavior.</a:t>
            </a:r>
          </a:p>
        </p:txBody>
      </p:sp>
      <p:graphicFrame>
        <p:nvGraphicFramePr>
          <p:cNvPr id="18" name="">
            <a:extLst xmlns:a="http://schemas.openxmlformats.org/drawingml/2006/main">
              <a:ext uri="{FF2B5EF4-FFF2-40B4-BE49-F238E27FC236}">
                <a16:creationId xmlns:a16="http://schemas.microsoft.com/office/drawing/2014/main" id="{D68022DC-079D-4E95-90FC-579BB6CB788E}"/>
              </a:ext>
            </a:extLst>
          </p:cNvPr>
          <p:cNvGraphicFramePr/>
          <p:nvPr/>
        </p:nvGraphicFramePr>
        <p:xfrm>
          <a:off xmlns:a="http://schemas.openxmlformats.org/drawingml/2006/main" x="723900" y="5162550"/>
          <a:ext xmlns:a="http://schemas.openxmlformats.org/drawingml/2006/main" cx="10744200" cy="1104900"/>
        </p:xfrm>
        <a:graphic xmlns:a="http://schemas.openxmlformats.org/drawingml/2006/main">
          <a:graphicData uri="http://schemas.openxmlformats.org/drawingml/2006/table">
            <a:tbl>
              <a:tblPr firstRow="1" bandRow="1"/>
              <a:tblGrid>
                <a:gridCol w="2286000"/>
                <a:gridCol w="2190750"/>
                <a:gridCol w="6267450"/>
              </a:tblGrid>
              <a:tr h="276225">
                <a:tc>
                  <a:txBody>
                    <a:bodyPr/>
                    <a:lstStyle/>
                    <a:p>
                      <a:r>
                        <a:t>Metric</a:t>
                      </a:r>
                    </a:p>
                  </a:txBody>
                  <a:tcPr marL="91440" marR="91440" marT="45720" marB="45720"/>
                </a:tc>
                <a:tc>
                  <a:txBody>
                    <a:bodyPr/>
                    <a:lstStyle/>
                    <a:p>
                      <a:r>
                        <a:t>Current benchmark</a:t>
                      </a:r>
                    </a:p>
                  </a:txBody>
                  <a:tcPr marL="91440" marR="91440" marT="45720" marB="45720"/>
                </a:tc>
                <a:tc>
                  <a:txBody>
                    <a:bodyPr/>
                    <a:lstStyle/>
                    <a:p>
                      <a:r>
                        <a:t>Why it matters</a:t>
                      </a:r>
                    </a:p>
                  </a:txBody>
                  <a:tcPr marL="91440" marR="91440" marT="45720" marB="45720"/>
                </a:tc>
              </a:tr>
              <a:tr h="276225">
                <a:tc>
                  <a:txBody>
                    <a:bodyPr/>
                    <a:lstStyle/>
                    <a:p>
                      <a:r>
                        <a:t>Field accuracy</a:t>
                      </a:r>
                    </a:p>
                  </a:txBody>
                  <a:tcPr marL="91440" marR="91440" marT="45720" marB="45720"/>
                </a:tc>
                <a:tc>
                  <a:txBody>
                    <a:bodyPr/>
                    <a:lstStyle/>
                    <a:p>
                      <a:r>
                        <a:t>100%</a:t>
                      </a:r>
                    </a:p>
                  </a:txBody>
                  <a:tcPr marL="91440" marR="91440" marT="45720" marB="45720"/>
                </a:tc>
                <a:tc>
                  <a:txBody>
                    <a:bodyPr/>
                    <a:lstStyle/>
                    <a:p>
                      <a:r>
                        <a:t>Correct fields across the synthetic evaluation set</a:t>
                      </a:r>
                    </a:p>
                  </a:txBody>
                  <a:tcPr marL="91440" marR="91440" marT="45720" marB="45720"/>
                </a:tc>
              </a:tr>
              <a:tr h="276225">
                <a:tc>
                  <a:txBody>
                    <a:bodyPr/>
                    <a:lstStyle/>
                    <a:p>
                      <a:r>
                        <a:t>Silent error rate</a:t>
                      </a:r>
                    </a:p>
                  </a:txBody>
                  <a:tcPr marL="91440" marR="91440" marT="45720" marB="45720"/>
                </a:tc>
                <a:tc>
                  <a:txBody>
                    <a:bodyPr/>
                    <a:lstStyle/>
                    <a:p>
                      <a:r>
                        <a:t>0%</a:t>
                      </a:r>
                    </a:p>
                  </a:txBody>
                  <a:tcPr marL="91440" marR="91440" marT="45720" marB="45720"/>
                </a:tc>
                <a:tc>
                  <a:txBody>
                    <a:bodyPr/>
                    <a:lstStyle/>
                    <a:p>
                      <a:r>
                        <a:t>No wrong fields slipped through unflagged</a:t>
                      </a:r>
                    </a:p>
                  </a:txBody>
                  <a:tcPr marL="91440" marR="91440" marT="45720" marB="45720"/>
                </a:tc>
              </a:tr>
              <a:tr h="276225">
                <a:tc>
                  <a:txBody>
                    <a:bodyPr/>
                    <a:lstStyle/>
                    <a:p>
                      <a:r>
                        <a:t>Fields evaluated</a:t>
                      </a:r>
                    </a:p>
                  </a:txBody>
                  <a:tcPr marL="91440" marR="91440" marT="45720" marB="45720"/>
                </a:tc>
                <a:tc>
                  <a:txBody>
                    <a:bodyPr/>
                    <a:lstStyle/>
                    <a:p>
                      <a:r>
                        <a:t>60</a:t>
                      </a:r>
                    </a:p>
                  </a:txBody>
                  <a:tcPr marL="91440" marR="91440" marT="45720" marB="45720"/>
                </a:tc>
                <a:tc>
                  <a:txBody>
                    <a:bodyPr/>
                    <a:lstStyle/>
                    <a:p>
                      <a:r>
                        <a:t>Benchmark loop already measures workflow changes</a:t>
                      </a:r>
                    </a:p>
                  </a:txBody>
                  <a:tcPr marL="91440" marR="91440" marT="45720" marB="45720"/>
                </a:tc>
              </a:tr>
            </a:tbl>
          </a:graphicData>
        </a:graphic>
      </p:graphicFrame>
    </p:spTree>
    <p:extLst>
      <p:ext uri="{BB962C8B-B14F-4D97-AF65-F5344CB8AC3E}">
        <p14:creationId xmlns:p14="http://schemas.microsoft.com/office/powerpoint/2010/main" val="1067967592"/>
      </p:ext>
    </p:extLst>
  </p:cSld>
</p:sld>
</file>

<file path=ppt/slides/slide2.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8E01224-0C0B-4731-A7FD-E098AF9B95B7}"/>
              </a:ext>
            </a:extLst>
          </p:cNvPr>
          <p:cNvSpPr>
            <a:spLocks xmlns:a="http://schemas.openxmlformats.org/drawingml/2006/main" noGrp="1"/>
          </p:cNvSpPr>
          <p:nvPr/>
        </p:nvSpPr>
        <p:spPr>
          <a:xfrm xmlns:a="http://schemas.openxmlformats.org/drawingml/2006/main">
            <a:off x="685800" y="3429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02A43"/>
                </a:solidFill>
              </a:defRPr>
            </a:defPPr>
          </a:lstStyle>
          <a:p xmlns:a="http://schemas.openxmlformats.org/drawingml/2006/main">
            <a:pPr algn="l">
              <a:defRPr sz="2850" b="1">
                <a:solidFill>
                  <a:srgbClr val="102A43"/>
                </a:solidFill>
              </a:defRPr>
            </a:pPr>
            <a:r>
              <a:rPr sz="2850" b="1">
                <a:solidFill>
                  <a:srgbClr val="102A43"/>
                </a:solidFill>
              </a:rPr>
              <a:t>System workflow</a:t>
            </a:r>
          </a:p>
        </p:txBody>
      </p:sp>
      <p:sp>
        <p:nvSpPr>
          <p:cNvPr id="2" name="">
            <a:extLst xmlns:a="http://schemas.openxmlformats.org/drawingml/2006/main">
              <a:ext uri="{FF2B5EF4-FFF2-40B4-BE49-F238E27FC236}">
                <a16:creationId xmlns:a16="http://schemas.microsoft.com/office/drawing/2014/main" id="{BAB235F6-B25F-4211-A123-C6277D698953}"/>
              </a:ext>
            </a:extLst>
          </p:cNvPr>
          <p:cNvSpPr>
            <a:spLocks xmlns:a="http://schemas.openxmlformats.org/drawingml/2006/main" noGrp="1"/>
          </p:cNvSpPr>
          <p:nvPr/>
        </p:nvSpPr>
        <p:spPr>
          <a:xfrm xmlns:a="http://schemas.openxmlformats.org/drawingml/2006/main">
            <a:off x="704850" y="800100"/>
            <a:ext cx="742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52687D"/>
                </a:solidFill>
              </a:defRPr>
            </a:defPPr>
          </a:lstStyle>
          <a:p xmlns:a="http://schemas.openxmlformats.org/drawingml/2006/main">
            <a:pPr algn="l">
              <a:defRPr sz="1350" b="0">
                <a:solidFill>
                  <a:srgbClr val="52687D"/>
                </a:solidFill>
              </a:defRPr>
            </a:pPr>
            <a:r>
              <a:rPr sz="1350" b="0">
                <a:solidFill>
                  <a:srgbClr val="52687D"/>
                </a:solidFill>
              </a:rPr>
              <a:t>How the product moves from fax intake to verified pharmacy output</a:t>
            </a:r>
          </a:p>
        </p:txBody>
      </p:sp>
      <p:pic>
        <p:nvPicPr>
          <p:cNvPr id="3" name="">
            <a:extLst xmlns:a="http://schemas.openxmlformats.org/drawingml/2006/main">
              <a:ext uri="{FF2B5EF4-FFF2-40B4-BE49-F238E27FC236}">
                <a16:creationId xmlns:a16="http://schemas.microsoft.com/office/drawing/2014/main" id="{B3DA5D81-B039-4B3A-9C99-633C5AD5122B}"/>
              </a:ext>
            </a:extLst>
          </p:cNvPr>
          <p:cNvPicPr>
            <a:picLocks xmlns:a="http://schemas.openxmlformats.org/drawingml/2006/main" noChangeAspect="1"/>
          </p:cNvPicPr>
          <p:nvPr/>
        </p:nvPicPr>
        <p:blipFill>
          <a:blip xmlns:r="http://schemas.openxmlformats.org/officeDocument/2006/relationships" xmlns:a="http://schemas.openxmlformats.org/drawingml/2006/main" r:embed="R7f8776d938184e62"/>
          <a:stretch xmlns:a="http://schemas.openxmlformats.org/drawingml/2006/main"/>
        </p:blipFill>
        <p:spPr>
          <a:xfrm xmlns:a="http://schemas.openxmlformats.org/drawingml/2006/main">
            <a:off x="2061013" y="1162050"/>
            <a:ext cx="8069974" cy="5200650"/>
          </a:xfrm>
          <a:prstGeom xmlns:a="http://schemas.openxmlformats.org/drawingml/2006/main" prst="rect">
            <a:avLst/>
          </a:prstGeom>
        </p:spPr>
      </p:pic>
    </p:spTree>
    <p:extLst>
      <p:ext uri="{BB962C8B-B14F-4D97-AF65-F5344CB8AC3E}">
        <p14:creationId xmlns:p14="http://schemas.microsoft.com/office/powerpoint/2010/main" val="244561669"/>
      </p:ext>
    </p:extLst>
  </p:cSld>
</p:sld>
</file>

<file path=ppt/slides/slide3.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E8AF41F-A70A-49A2-8909-5D9DD125573D}"/>
              </a:ext>
            </a:extLst>
          </p:cNvPr>
          <p:cNvSpPr>
            <a:spLocks xmlns:a="http://schemas.openxmlformats.org/drawingml/2006/main" noGrp="1"/>
          </p:cNvSpPr>
          <p:nvPr/>
        </p:nvSpPr>
        <p:spPr>
          <a:xfrm xmlns:a="http://schemas.openxmlformats.org/drawingml/2006/main">
            <a:off x="685800" y="40005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102A43"/>
                </a:solidFill>
              </a:defRPr>
            </a:defPPr>
          </a:lstStyle>
          <a:p xmlns:a="http://schemas.openxmlformats.org/drawingml/2006/main">
            <a:pPr algn="l">
              <a:defRPr sz="3000" b="1">
                <a:solidFill>
                  <a:srgbClr val="102A43"/>
                </a:solidFill>
              </a:defRPr>
            </a:pPr>
            <a:r>
              <a:rPr sz="3000" b="1">
                <a:solidFill>
                  <a:srgbClr val="102A43"/>
                </a:solidFill>
              </a:rPr>
              <a:t>Explainability and trust</a:t>
            </a:r>
          </a:p>
        </p:txBody>
      </p:sp>
      <p:sp>
        <p:nvSpPr>
          <p:cNvPr id="2" name="">
            <a:extLst xmlns:a="http://schemas.openxmlformats.org/drawingml/2006/main">
              <a:ext uri="{FF2B5EF4-FFF2-40B4-BE49-F238E27FC236}">
                <a16:creationId xmlns:a16="http://schemas.microsoft.com/office/drawing/2014/main" id="{0ACCAB8C-9C89-4494-A524-334A5A81C4A7}"/>
              </a:ext>
            </a:extLst>
          </p:cNvPr>
          <p:cNvSpPr>
            <a:spLocks xmlns:a="http://schemas.openxmlformats.org/drawingml/2006/main" noGrp="1"/>
          </p:cNvSpPr>
          <p:nvPr/>
        </p:nvSpPr>
        <p:spPr>
          <a:xfrm xmlns:a="http://schemas.openxmlformats.org/drawingml/2006/main">
            <a:off x="704850" y="8953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52687D"/>
                </a:solidFill>
              </a:defRPr>
            </a:defPPr>
          </a:lstStyle>
          <a:p xmlns:a="http://schemas.openxmlformats.org/drawingml/2006/main">
            <a:pPr algn="l">
              <a:defRPr sz="1425" b="0">
                <a:solidFill>
                  <a:srgbClr val="52687D"/>
                </a:solidFill>
              </a:defRPr>
            </a:pPr>
            <a:r>
              <a:rPr sz="1425" b="0">
                <a:solidFill>
                  <a:srgbClr val="52687D"/>
                </a:solidFill>
              </a:rPr>
              <a:t>The system treats AI output as a proposal. Rules, web evidence, traces, and pharmacist decisions determine what moves forward.</a:t>
            </a:r>
          </a:p>
        </p:txBody>
      </p:sp>
      <p:sp>
        <p:nvSpPr>
          <p:cNvPr id="3" name="">
            <a:extLst xmlns:a="http://schemas.openxmlformats.org/drawingml/2006/main">
              <a:ext uri="{FF2B5EF4-FFF2-40B4-BE49-F238E27FC236}">
                <a16:creationId xmlns:a16="http://schemas.microsoft.com/office/drawing/2014/main" id="{0870B2B3-D296-4F4B-8C82-8E74397C5267}"/>
              </a:ext>
            </a:extLst>
          </p:cNvPr>
          <p:cNvSpPr>
            <a:spLocks xmlns:a="http://schemas.openxmlformats.org/drawingml/2006/main" noGrp="1"/>
          </p:cNvSpPr>
          <p:nvPr/>
        </p:nvSpPr>
        <p:spPr>
          <a:xfrm xmlns:a="http://schemas.openxmlformats.org/drawingml/2006/main">
            <a:off x="762000" y="1752600"/>
            <a:ext cx="762000" cy="28575"/>
          </a:xfrm>
          <a:prstGeom xmlns:a="http://schemas.openxmlformats.org/drawingml/2006/main" prst="rect">
            <a:avLst/>
          </a:prstGeom>
          <a:solidFill xmlns:a="http://schemas.openxmlformats.org/drawingml/2006/main">
            <a:srgbClr val="F97316"/>
          </a:solidFill>
          <a:ln xmlns:a="http://schemas.openxmlformats.org/drawingml/2006/main" w="0">
            <a:solidFill>
              <a:srgbClr val="F97316"/>
            </a:solidFill>
            <a:prstDash val="solid"/>
          </a:ln>
        </p:spPr>
      </p:sp>
      <p:sp>
        <p:nvSpPr>
          <p:cNvPr id="4" name="">
            <a:extLst xmlns:a="http://schemas.openxmlformats.org/drawingml/2006/main">
              <a:ext uri="{FF2B5EF4-FFF2-40B4-BE49-F238E27FC236}">
                <a16:creationId xmlns:a16="http://schemas.microsoft.com/office/drawing/2014/main" id="{53EC618A-5D91-4E28-9702-01FC2D587A33}"/>
              </a:ext>
            </a:extLst>
          </p:cNvPr>
          <p:cNvSpPr>
            <a:spLocks xmlns:a="http://schemas.openxmlformats.org/drawingml/2006/main" noGrp="1"/>
          </p:cNvSpPr>
          <p:nvPr/>
        </p:nvSpPr>
        <p:spPr>
          <a:xfrm xmlns:a="http://schemas.openxmlformats.org/drawingml/2006/main">
            <a:off x="762000" y="1943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02A43"/>
                </a:solidFill>
              </a:defRPr>
            </a:defPPr>
          </a:lstStyle>
          <a:p xmlns:a="http://schemas.openxmlformats.org/drawingml/2006/main">
            <a:pPr algn="l">
              <a:defRPr sz="2100" b="1">
                <a:solidFill>
                  <a:srgbClr val="102A43"/>
                </a:solidFill>
              </a:defRPr>
            </a:pPr>
            <a:r>
              <a:rPr sz="2100" b="1">
                <a:solidFill>
                  <a:srgbClr val="102A43"/>
                </a:solidFill>
              </a:rPr>
              <a:t>ElevenLabs</a:t>
            </a:r>
          </a:p>
        </p:txBody>
      </p:sp>
      <p:sp>
        <p:nvSpPr>
          <p:cNvPr id="5" name="">
            <a:extLst xmlns:a="http://schemas.openxmlformats.org/drawingml/2006/main">
              <a:ext uri="{FF2B5EF4-FFF2-40B4-BE49-F238E27FC236}">
                <a16:creationId xmlns:a16="http://schemas.microsoft.com/office/drawing/2014/main" id="{10C481A2-B14C-4EDC-AF95-641376BCA752}"/>
              </a:ext>
            </a:extLst>
          </p:cNvPr>
          <p:cNvSpPr>
            <a:spLocks xmlns:a="http://schemas.openxmlformats.org/drawingml/2006/main" noGrp="1"/>
          </p:cNvSpPr>
          <p:nvPr/>
        </p:nvSpPr>
        <p:spPr>
          <a:xfrm xmlns:a="http://schemas.openxmlformats.org/drawingml/2006/main">
            <a:off x="762000" y="23241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F97316"/>
                </a:solidFill>
              </a:defRPr>
            </a:defPPr>
          </a:lstStyle>
          <a:p xmlns:a="http://schemas.openxmlformats.org/drawingml/2006/main">
            <a:pPr algn="l">
              <a:defRPr sz="1275" b="1">
                <a:solidFill>
                  <a:srgbClr val="F97316"/>
                </a:solidFill>
              </a:defRPr>
            </a:pPr>
            <a:r>
              <a:rPr sz="1275" b="1">
                <a:solidFill>
                  <a:srgbClr val="F97316"/>
                </a:solidFill>
              </a:rPr>
              <a:t>Prescriber clarification</a:t>
            </a:r>
          </a:p>
        </p:txBody>
      </p:sp>
      <p:sp>
        <p:nvSpPr>
          <p:cNvPr id="6" name="">
            <a:extLst xmlns:a="http://schemas.openxmlformats.org/drawingml/2006/main">
              <a:ext uri="{FF2B5EF4-FFF2-40B4-BE49-F238E27FC236}">
                <a16:creationId xmlns:a16="http://schemas.microsoft.com/office/drawing/2014/main" id="{3BCC9C87-4B04-4CFC-8585-00542C9F9672}"/>
              </a:ext>
            </a:extLst>
          </p:cNvPr>
          <p:cNvSpPr>
            <a:spLocks xmlns:a="http://schemas.openxmlformats.org/drawingml/2006/main" noGrp="1"/>
          </p:cNvSpPr>
          <p:nvPr/>
        </p:nvSpPr>
        <p:spPr>
          <a:xfrm xmlns:a="http://schemas.openxmlformats.org/drawingml/2006/main">
            <a:off x="762000" y="2781300"/>
            <a:ext cx="28575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102A43"/>
                </a:solidFill>
              </a:defRPr>
            </a:defPPr>
          </a:lstStyle>
          <a:p xmlns:a="http://schemas.openxmlformats.org/drawingml/2006/main">
            <a:pPr algn="l">
              <a:defRPr sz="1350" b="0">
                <a:solidFill>
                  <a:srgbClr val="102A43"/>
                </a:solidFill>
              </a:defRPr>
            </a:pPr>
            <a:r>
              <a:rPr sz="1350" b="0">
                <a:solidFill>
                  <a:srgbClr val="102A43"/>
                </a:solidFill>
              </a:rPr>
              <a:t>When a required field is missing or ambiguous, the call flow asks one scoped question, captures the response, and routes the result back to pharmacist approval.</a:t>
            </a:r>
          </a:p>
        </p:txBody>
      </p:sp>
      <p:sp>
        <p:nvSpPr>
          <p:cNvPr id="7" name="">
            <a:extLst xmlns:a="http://schemas.openxmlformats.org/drawingml/2006/main">
              <a:ext uri="{FF2B5EF4-FFF2-40B4-BE49-F238E27FC236}">
                <a16:creationId xmlns:a16="http://schemas.microsoft.com/office/drawing/2014/main" id="{0DC70364-522A-491D-B464-342A515208D6}"/>
              </a:ext>
            </a:extLst>
          </p:cNvPr>
          <p:cNvSpPr>
            <a:spLocks xmlns:a="http://schemas.openxmlformats.org/drawingml/2006/main" noGrp="1"/>
          </p:cNvSpPr>
          <p:nvPr/>
        </p:nvSpPr>
        <p:spPr>
          <a:xfrm xmlns:a="http://schemas.openxmlformats.org/drawingml/2006/main">
            <a:off x="4333875" y="1752600"/>
            <a:ext cx="762000" cy="28575"/>
          </a:xfrm>
          <a:prstGeom xmlns:a="http://schemas.openxmlformats.org/drawingml/2006/main" prst="rect">
            <a:avLst/>
          </a:prstGeom>
          <a:solidFill xmlns:a="http://schemas.openxmlformats.org/drawingml/2006/main">
            <a:srgbClr val="059669"/>
          </a:solidFill>
          <a:ln xmlns:a="http://schemas.openxmlformats.org/drawingml/2006/main" w="0">
            <a:solidFill>
              <a:srgbClr val="059669"/>
            </a:solidFill>
            <a:prstDash val="solid"/>
          </a:ln>
        </p:spPr>
      </p:sp>
      <p:sp>
        <p:nvSpPr>
          <p:cNvPr id="8" name="">
            <a:extLst xmlns:a="http://schemas.openxmlformats.org/drawingml/2006/main">
              <a:ext uri="{FF2B5EF4-FFF2-40B4-BE49-F238E27FC236}">
                <a16:creationId xmlns:a16="http://schemas.microsoft.com/office/drawing/2014/main" id="{B95EE4B9-1B7B-4327-A173-109BCCD2B832}"/>
              </a:ext>
            </a:extLst>
          </p:cNvPr>
          <p:cNvSpPr>
            <a:spLocks xmlns:a="http://schemas.openxmlformats.org/drawingml/2006/main" noGrp="1"/>
          </p:cNvSpPr>
          <p:nvPr/>
        </p:nvSpPr>
        <p:spPr>
          <a:xfrm xmlns:a="http://schemas.openxmlformats.org/drawingml/2006/main">
            <a:off x="4333875" y="1943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02A43"/>
                </a:solidFill>
              </a:defRPr>
            </a:defPPr>
          </a:lstStyle>
          <a:p xmlns:a="http://schemas.openxmlformats.org/drawingml/2006/main">
            <a:pPr algn="l">
              <a:defRPr sz="2100" b="1">
                <a:solidFill>
                  <a:srgbClr val="102A43"/>
                </a:solidFill>
              </a:defRPr>
            </a:pPr>
            <a:r>
              <a:rPr sz="2100" b="1">
                <a:solidFill>
                  <a:srgbClr val="102A43"/>
                </a:solidFill>
              </a:rPr>
              <a:t>Tavily</a:t>
            </a:r>
          </a:p>
        </p:txBody>
      </p:sp>
      <p:sp>
        <p:nvSpPr>
          <p:cNvPr id="9" name="">
            <a:extLst xmlns:a="http://schemas.openxmlformats.org/drawingml/2006/main">
              <a:ext uri="{FF2B5EF4-FFF2-40B4-BE49-F238E27FC236}">
                <a16:creationId xmlns:a16="http://schemas.microsoft.com/office/drawing/2014/main" id="{722911EB-477F-41EA-A0C4-C81CF2429FE7}"/>
              </a:ext>
            </a:extLst>
          </p:cNvPr>
          <p:cNvSpPr>
            <a:spLocks xmlns:a="http://schemas.openxmlformats.org/drawingml/2006/main" noGrp="1"/>
          </p:cNvSpPr>
          <p:nvPr/>
        </p:nvSpPr>
        <p:spPr>
          <a:xfrm xmlns:a="http://schemas.openxmlformats.org/drawingml/2006/main">
            <a:off x="4333875" y="23241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59669"/>
                </a:solidFill>
              </a:defRPr>
            </a:defPPr>
          </a:lstStyle>
          <a:p xmlns:a="http://schemas.openxmlformats.org/drawingml/2006/main">
            <a:pPr algn="l">
              <a:defRPr sz="1275" b="1">
                <a:solidFill>
                  <a:srgbClr val="059669"/>
                </a:solidFill>
              </a:defRPr>
            </a:pPr>
            <a:r>
              <a:rPr sz="1275" b="1">
                <a:solidFill>
                  <a:srgbClr val="059669"/>
                </a:solidFill>
              </a:rPr>
              <a:t>Web search and validation</a:t>
            </a:r>
          </a:p>
        </p:txBody>
      </p:sp>
      <p:sp>
        <p:nvSpPr>
          <p:cNvPr id="10" name="">
            <a:extLst xmlns:a="http://schemas.openxmlformats.org/drawingml/2006/main">
              <a:ext uri="{FF2B5EF4-FFF2-40B4-BE49-F238E27FC236}">
                <a16:creationId xmlns:a16="http://schemas.microsoft.com/office/drawing/2014/main" id="{F6E1221E-04FA-4B3D-A9BC-4E2EAEF6CC17}"/>
              </a:ext>
            </a:extLst>
          </p:cNvPr>
          <p:cNvSpPr>
            <a:spLocks xmlns:a="http://schemas.openxmlformats.org/drawingml/2006/main" noGrp="1"/>
          </p:cNvSpPr>
          <p:nvPr/>
        </p:nvSpPr>
        <p:spPr>
          <a:xfrm xmlns:a="http://schemas.openxmlformats.org/drawingml/2006/main">
            <a:off x="4333875" y="2781300"/>
            <a:ext cx="28575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102A43"/>
                </a:solidFill>
              </a:defRPr>
            </a:defPPr>
          </a:lstStyle>
          <a:p xmlns:a="http://schemas.openxmlformats.org/drawingml/2006/main">
            <a:pPr algn="l">
              <a:defRPr sz="1350" b="0">
                <a:solidFill>
                  <a:srgbClr val="102A43"/>
                </a:solidFill>
              </a:defRPr>
            </a:pPr>
            <a:r>
              <a:rPr sz="1350" b="0">
                <a:solidFill>
                  <a:srgbClr val="102A43"/>
                </a:solidFill>
              </a:rPr>
              <a:t>Agent web search supports public validation for safety context, callback research, and grounding when registry data alone is not enough.</a:t>
            </a:r>
          </a:p>
        </p:txBody>
      </p:sp>
      <p:sp>
        <p:nvSpPr>
          <p:cNvPr id="11" name="">
            <a:extLst xmlns:a="http://schemas.openxmlformats.org/drawingml/2006/main">
              <a:ext uri="{FF2B5EF4-FFF2-40B4-BE49-F238E27FC236}">
                <a16:creationId xmlns:a16="http://schemas.microsoft.com/office/drawing/2014/main" id="{4106F8D5-74AE-44A8-83B4-B83A7AD09B25}"/>
              </a:ext>
            </a:extLst>
          </p:cNvPr>
          <p:cNvSpPr>
            <a:spLocks xmlns:a="http://schemas.openxmlformats.org/drawingml/2006/main" noGrp="1"/>
          </p:cNvSpPr>
          <p:nvPr/>
        </p:nvSpPr>
        <p:spPr>
          <a:xfrm xmlns:a="http://schemas.openxmlformats.org/drawingml/2006/main">
            <a:off x="7905750" y="1752600"/>
            <a:ext cx="762000" cy="285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E29E707F-7AC5-4285-984E-BCFBBA2F79F1}"/>
              </a:ext>
            </a:extLst>
          </p:cNvPr>
          <p:cNvSpPr>
            <a:spLocks xmlns:a="http://schemas.openxmlformats.org/drawingml/2006/main" noGrp="1"/>
          </p:cNvSpPr>
          <p:nvPr/>
        </p:nvSpPr>
        <p:spPr>
          <a:xfrm xmlns:a="http://schemas.openxmlformats.org/drawingml/2006/main">
            <a:off x="7905750" y="1943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02A43"/>
                </a:solidFill>
              </a:defRPr>
            </a:defPPr>
          </a:lstStyle>
          <a:p xmlns:a="http://schemas.openxmlformats.org/drawingml/2006/main">
            <a:pPr algn="l">
              <a:defRPr sz="2100" b="1">
                <a:solidFill>
                  <a:srgbClr val="102A43"/>
                </a:solidFill>
              </a:defRPr>
            </a:pPr>
            <a:r>
              <a:rPr sz="2100" b="1">
                <a:solidFill>
                  <a:srgbClr val="102A43"/>
                </a:solidFill>
              </a:rPr>
              <a:t>Prism</a:t>
            </a:r>
          </a:p>
        </p:txBody>
      </p:sp>
      <p:sp>
        <p:nvSpPr>
          <p:cNvPr id="13" name="">
            <a:extLst xmlns:a="http://schemas.openxmlformats.org/drawingml/2006/main">
              <a:ext uri="{FF2B5EF4-FFF2-40B4-BE49-F238E27FC236}">
                <a16:creationId xmlns:a16="http://schemas.microsoft.com/office/drawing/2014/main" id="{B772CDBD-82E7-4BE1-ADFB-46B9C87F3914}"/>
              </a:ext>
            </a:extLst>
          </p:cNvPr>
          <p:cNvSpPr>
            <a:spLocks xmlns:a="http://schemas.openxmlformats.org/drawingml/2006/main" noGrp="1"/>
          </p:cNvSpPr>
          <p:nvPr/>
        </p:nvSpPr>
        <p:spPr>
          <a:xfrm xmlns:a="http://schemas.openxmlformats.org/drawingml/2006/main">
            <a:off x="7905750" y="23241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2563EB"/>
                </a:solidFill>
              </a:defRPr>
            </a:defPPr>
          </a:lstStyle>
          <a:p xmlns:a="http://schemas.openxmlformats.org/drawingml/2006/main">
            <a:pPr algn="l">
              <a:defRPr sz="1275" b="1">
                <a:solidFill>
                  <a:srgbClr val="2563EB"/>
                </a:solidFill>
              </a:defRPr>
            </a:pPr>
            <a:r>
              <a:rPr sz="1275" b="1">
                <a:solidFill>
                  <a:srgbClr val="2563EB"/>
                </a:solidFill>
              </a:rPr>
              <a:t>Agent behavior tracing</a:t>
            </a:r>
          </a:p>
        </p:txBody>
      </p:sp>
      <p:sp>
        <p:nvSpPr>
          <p:cNvPr id="14" name="">
            <a:extLst xmlns:a="http://schemas.openxmlformats.org/drawingml/2006/main">
              <a:ext uri="{FF2B5EF4-FFF2-40B4-BE49-F238E27FC236}">
                <a16:creationId xmlns:a16="http://schemas.microsoft.com/office/drawing/2014/main" id="{9956E4C8-CE2C-490C-90C5-476AEE4F4B20}"/>
              </a:ext>
            </a:extLst>
          </p:cNvPr>
          <p:cNvSpPr>
            <a:spLocks xmlns:a="http://schemas.openxmlformats.org/drawingml/2006/main" noGrp="1"/>
          </p:cNvSpPr>
          <p:nvPr/>
        </p:nvSpPr>
        <p:spPr>
          <a:xfrm xmlns:a="http://schemas.openxmlformats.org/drawingml/2006/main">
            <a:off x="7905750" y="2781300"/>
            <a:ext cx="28575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102A43"/>
                </a:solidFill>
              </a:defRPr>
            </a:defPPr>
          </a:lstStyle>
          <a:p xmlns:a="http://schemas.openxmlformats.org/drawingml/2006/main">
            <a:pPr algn="l">
              <a:defRPr sz="1350" b="0">
                <a:solidFill>
                  <a:srgbClr val="102A43"/>
                </a:solidFill>
              </a:defRPr>
            </a:pPr>
            <a:r>
              <a:rPr sz="1350" b="0">
                <a:solidFill>
                  <a:srgbClr val="102A43"/>
                </a:solidFill>
              </a:rPr>
              <a:t>Model calls, search behavior, outputs, and decision paths are traceable so reviewers can explain why the system flagged or accepted a field.</a:t>
            </a:r>
          </a:p>
        </p:txBody>
      </p:sp>
      <p:graphicFrame>
        <p:nvGraphicFramePr>
          <p:cNvPr id="15" name="">
            <a:extLst xmlns:a="http://schemas.openxmlformats.org/drawingml/2006/main">
              <a:ext uri="{FF2B5EF4-FFF2-40B4-BE49-F238E27FC236}">
                <a16:creationId xmlns:a16="http://schemas.microsoft.com/office/drawing/2014/main" id="{8A8D3B90-E72E-4DB0-873B-7991454A014F}"/>
              </a:ext>
            </a:extLst>
          </p:cNvPr>
          <p:cNvGraphicFramePr/>
          <p:nvPr/>
        </p:nvGraphicFramePr>
        <p:xfrm>
          <a:off xmlns:a="http://schemas.openxmlformats.org/drawingml/2006/main" x="742950" y="4686300"/>
          <a:ext xmlns:a="http://schemas.openxmlformats.org/drawingml/2006/main" cx="10706100" cy="1200150"/>
        </p:xfrm>
        <a:graphic xmlns:a="http://schemas.openxmlformats.org/drawingml/2006/main">
          <a:graphicData uri="http://schemas.openxmlformats.org/drawingml/2006/table">
            <a:tbl>
              <a:tblPr firstRow="1" bandRow="1"/>
              <a:tblGrid>
                <a:gridCol w="2333625"/>
                <a:gridCol w="4238625"/>
                <a:gridCol w="4133850"/>
              </a:tblGrid>
              <a:tr h="300038">
                <a:tc>
                  <a:txBody>
                    <a:bodyPr/>
                    <a:lstStyle/>
                    <a:p>
                      <a:r>
                        <a:t>Trust control</a:t>
                      </a:r>
                    </a:p>
                  </a:txBody>
                  <a:tcPr marL="91440" marR="91440" marT="45720" marB="45720"/>
                </a:tc>
                <a:tc>
                  <a:txBody>
                    <a:bodyPr/>
                    <a:lstStyle/>
                    <a:p>
                      <a:r>
                        <a:t>What reviewers see</a:t>
                      </a:r>
                    </a:p>
                  </a:txBody>
                  <a:tcPr marL="91440" marR="91440" marT="45720" marB="45720"/>
                </a:tc>
                <a:tc>
                  <a:txBody>
                    <a:bodyPr/>
                    <a:lstStyle/>
                    <a:p>
                      <a:r>
                        <a:t>Failure mode reduced</a:t>
                      </a:r>
                    </a:p>
                  </a:txBody>
                  <a:tcPr marL="91440" marR="91440" marT="45720" marB="45720"/>
                </a:tc>
              </a:tr>
              <a:tr h="300038">
                <a:tc>
                  <a:txBody>
                    <a:bodyPr/>
                    <a:lstStyle/>
                    <a:p>
                      <a:r>
                        <a:t>Field triage</a:t>
                      </a:r>
                    </a:p>
                  </a:txBody>
                  <a:tcPr marL="91440" marR="91440" marT="45720" marB="45720"/>
                </a:tc>
                <a:tc>
                  <a:txBody>
                    <a:bodyPr/>
                    <a:lstStyle/>
                    <a:p>
                      <a:r>
                        <a:t>Green, yellow, red status with reasons</a:t>
                      </a:r>
                    </a:p>
                  </a:txBody>
                  <a:tcPr marL="91440" marR="91440" marT="45720" marB="45720"/>
                </a:tc>
                <a:tc>
                  <a:txBody>
                    <a:bodyPr/>
                    <a:lstStyle/>
                    <a:p>
                      <a:r>
                        <a:t>Unsafe auto-approval</a:t>
                      </a:r>
                    </a:p>
                  </a:txBody>
                  <a:tcPr marL="91440" marR="91440" marT="45720" marB="45720"/>
                </a:tc>
              </a:tr>
              <a:tr h="300038">
                <a:tc>
                  <a:txBody>
                    <a:bodyPr/>
                    <a:lstStyle/>
                    <a:p>
                      <a:r>
                        <a:t>Call result</a:t>
                      </a:r>
                    </a:p>
                  </a:txBody>
                  <a:tcPr marL="91440" marR="91440" marT="45720" marB="45720"/>
                </a:tc>
                <a:tc>
                  <a:txBody>
                    <a:bodyPr/>
                    <a:lstStyle/>
                    <a:p>
                      <a:r>
                        <a:t>Transcript, confirmed value, decision</a:t>
                      </a:r>
                    </a:p>
                  </a:txBody>
                  <a:tcPr marL="91440" marR="91440" marT="45720" marB="45720"/>
                </a:tc>
                <a:tc>
                  <a:txBody>
                    <a:bodyPr/>
                    <a:lstStyle/>
                    <a:p>
                      <a:r>
                        <a:t>Unverified missing data</a:t>
                      </a:r>
                    </a:p>
                  </a:txBody>
                  <a:tcPr marL="91440" marR="91440" marT="45720" marB="45720"/>
                </a:tc>
              </a:tr>
              <a:tr h="300038">
                <a:tc>
                  <a:txBody>
                    <a:bodyPr/>
                    <a:lstStyle/>
                    <a:p>
                      <a:r>
                        <a:t>Trace record</a:t>
                      </a:r>
                    </a:p>
                  </a:txBody>
                  <a:tcPr marL="91440" marR="91440" marT="45720" marB="45720"/>
                </a:tc>
                <a:tc>
                  <a:txBody>
                    <a:bodyPr/>
                    <a:lstStyle/>
                    <a:p>
                      <a:r>
                        <a:t>Agent input, tool use, output</a:t>
                      </a:r>
                    </a:p>
                  </a:txBody>
                  <a:tcPr marL="91440" marR="91440" marT="45720" marB="45720"/>
                </a:tc>
                <a:tc>
                  <a:txBody>
                    <a:bodyPr/>
                    <a:lstStyle/>
                    <a:p>
                      <a:r>
                        <a:t>Unexplainable model behavior</a:t>
                      </a:r>
                    </a:p>
                  </a:txBody>
                  <a:tcPr marL="91440" marR="91440" marT="45720" marB="45720"/>
                </a:tc>
              </a:tr>
            </a:tbl>
          </a:graphicData>
        </a:graphic>
      </p:graphicFrame>
    </p:spTree>
    <p:extLst>
      <p:ext uri="{BB962C8B-B14F-4D97-AF65-F5344CB8AC3E}">
        <p14:creationId xmlns:p14="http://schemas.microsoft.com/office/powerpoint/2010/main" val="1989729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2026-10-10T19:41:31.6370000Z</dcterms:created>
  <dcterms:modified xsi:type="dcterms:W3CDTF">2026-10-10T19:41:31.6380000Z</dcterms:modified>
</coreProperties>
</file>